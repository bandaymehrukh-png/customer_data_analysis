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7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82-42F8-A9D4-0ED19995235B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82-42F8-A9D4-0ED19995235B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82-42F8-A9D4-0ED19995235B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82-42F8-A9D4-0ED19995235B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82-42F8-A9D4-0ED1999523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Apparel</c:v>
                </c:pt>
                <c:pt idx="1">
                  <c:v>Bags &amp; Acc.</c:v>
                </c:pt>
                <c:pt idx="2">
                  <c:v>Footwear</c:v>
                </c:pt>
                <c:pt idx="3">
                  <c:v>Luxury Goods</c:v>
                </c:pt>
                <c:pt idx="4">
                  <c:v>Outerwear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311544</c:v>
                </c:pt>
                <c:pt idx="1">
                  <c:v>120636</c:v>
                </c:pt>
                <c:pt idx="2">
                  <c:v>111514</c:v>
                </c:pt>
                <c:pt idx="3">
                  <c:v>80057</c:v>
                </c:pt>
                <c:pt idx="4">
                  <c:v>75177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A82-42F8-A9D4-0ED1999523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19-4AB2-B86A-3EA98B4FACB9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19-4AB2-B86A-3EA98B4FACB9}"/>
              </c:ext>
            </c:extLst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19-4AB2-B86A-3EA98B4FACB9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619-4AB2-B86A-3EA98B4FACB9}"/>
              </c:ext>
            </c:extLst>
          </c:dPt>
          <c:dPt>
            <c:idx val="4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619-4AB2-B86A-3EA98B4FACB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619-4AB2-B86A-3EA98B4FACB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619-4AB2-B86A-3EA98B4FACB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619-4AB2-B86A-3EA98B4FACB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619-4AB2-B86A-3EA98B4FACB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619-4AB2-B86A-3EA98B4FACB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Apparel</c:v>
                </c:pt>
                <c:pt idx="1">
                  <c:v>Bags &amp; Acc.</c:v>
                </c:pt>
                <c:pt idx="2">
                  <c:v>Footwear</c:v>
                </c:pt>
                <c:pt idx="3">
                  <c:v>Luxury Goods</c:v>
                </c:pt>
                <c:pt idx="4">
                  <c:v>Outerwear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4647</c:v>
                </c:pt>
                <c:pt idx="1">
                  <c:v>1802</c:v>
                </c:pt>
                <c:pt idx="2">
                  <c:v>1667</c:v>
                </c:pt>
                <c:pt idx="3">
                  <c:v>1176</c:v>
                </c:pt>
                <c:pt idx="4">
                  <c:v>1108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619-4AB2-B86A-3EA98B4FA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Customer Segments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25-42AB-B2DA-9CC8C2614170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25-42AB-B2DA-9CC8C2614170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25-42AB-B2DA-9CC8C261417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25-42AB-B2DA-9CC8C261417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25-42AB-B2DA-9CC8C261417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25-42AB-B2DA-9CC8C261417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Loyal (10+ purchases)</c:v>
                </c:pt>
                <c:pt idx="1">
                  <c:v>Returning (2-9)</c:v>
                </c:pt>
                <c:pt idx="2">
                  <c:v>New (1 purchase)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8844</c:v>
                </c:pt>
                <c:pt idx="1">
                  <c:v>1408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25-42AB-B2DA-9CC8C2614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Customers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04-4C17-B4E1-B4E9D278C5FB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04-4C17-B4E1-B4E9D278C5FB}"/>
              </c:ext>
            </c:extLst>
          </c:dPt>
          <c:dPt>
            <c:idx val="2"/>
            <c:invertIfNegative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04-4C17-B4E1-B4E9D278C5FB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04-4C17-B4E1-B4E9D278C5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</c:v>
                </c:pt>
                <c:pt idx="1">
                  <c:v>Middle-Aged</c:v>
                </c:pt>
                <c:pt idx="2">
                  <c:v>Senior</c:v>
                </c:pt>
                <c:pt idx="3">
                  <c:v>Adult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2729</c:v>
                </c:pt>
                <c:pt idx="1">
                  <c:v>2571</c:v>
                </c:pt>
                <c:pt idx="2">
                  <c:v>2560</c:v>
                </c:pt>
                <c:pt idx="3">
                  <c:v>2540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04-4C17-B4E1-B4E9D278C5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Revenue by Season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56-487B-B20E-23C7404CAB84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56-487B-B20E-23C7404CAB84}"/>
              </c:ext>
            </c:extLst>
          </c:dPt>
          <c:dPt>
            <c:idx val="2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56-487B-B20E-23C7404CAB84}"/>
              </c:ext>
            </c:extLst>
          </c:dPt>
          <c:dPt>
            <c:idx val="3"/>
            <c:invertIfNegative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B56-487B-B20E-23C7404CAB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  <c:pt idx="3">
                  <c:v>Winter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169431</c:v>
                </c:pt>
                <c:pt idx="1">
                  <c:v>173574</c:v>
                </c:pt>
                <c:pt idx="2">
                  <c:v>175274</c:v>
                </c:pt>
                <c:pt idx="3">
                  <c:v>180649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56-487B-B20E-23C7404CAB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Discount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14-45C8-B743-922B1F504340}"/>
              </c:ext>
            </c:extLst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14-45C8-B743-922B1F50434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14-45C8-B743-922B1F50434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14-45C8-B743-922B1F50434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Discount (54.8%)</c:v>
                </c:pt>
                <c:pt idx="1">
                  <c:v>Discount Applied (45.2%)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5704</c:v>
                </c:pt>
                <c:pt idx="1">
                  <c:v>4696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14-45C8-B743-922B1F5043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Transactions by Payment Method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13-48EF-ABEA-50404899D256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13-48EF-ABEA-50404899D256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13-48EF-ABEA-50404899D256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13-48EF-ABEA-50404899D256}"/>
              </c:ext>
            </c:extLst>
          </c:dPt>
          <c:dPt>
            <c:idx val="4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13-48EF-ABEA-50404899D2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PayPal</c:v>
                </c:pt>
                <c:pt idx="1">
                  <c:v>Venmo</c:v>
                </c:pt>
                <c:pt idx="2">
                  <c:v>Credit Card</c:v>
                </c:pt>
                <c:pt idx="3">
                  <c:v>Bank Transfer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2115</c:v>
                </c:pt>
                <c:pt idx="1">
                  <c:v>2075</c:v>
                </c:pt>
                <c:pt idx="2">
                  <c:v>2036</c:v>
                </c:pt>
                <c:pt idx="3">
                  <c:v>1557</c:v>
                </c:pt>
                <c:pt idx="4">
                  <c:v>1551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13-48EF-ABEA-50404899D2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Orders by Shipping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ED2-401D-9223-8F4F90620A58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D2-401D-9223-8F4F90620A58}"/>
              </c:ext>
            </c:extLst>
          </c:dPt>
          <c:dPt>
            <c:idx val="2"/>
            <c:invertIfNegative val="0"/>
            <c:bubble3D val="0"/>
            <c:spPr>
              <a:solidFill>
                <a:srgbClr val="1E4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D2-401D-9223-8F4F90620A58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D2-401D-9223-8F4F90620A58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ED2-401D-9223-8F4F90620A58}"/>
              </c:ext>
            </c:extLst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ED2-401D-9223-8F4F90620A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Express</c:v>
                </c:pt>
                <c:pt idx="1">
                  <c:v>Free Ship.</c:v>
                </c:pt>
                <c:pt idx="2">
                  <c:v>Store Pickup</c:v>
                </c:pt>
                <c:pt idx="3">
                  <c:v>Next Day Air</c:v>
                </c:pt>
                <c:pt idx="4">
                  <c:v>Standard</c:v>
                </c:pt>
                <c:pt idx="5">
                  <c:v>2-Day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1756</c:v>
                </c:pt>
                <c:pt idx="2">
                  <c:v>1720</c:v>
                </c:pt>
                <c:pt idx="3">
                  <c:v>1719</c:v>
                </c:pt>
                <c:pt idx="4">
                  <c:v>1715</c:v>
                </c:pt>
                <c:pt idx="5">
                  <c:v>1690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ED2-401D-9223-8F4F90620A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40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50292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828800" cy="822960"/>
          </a:xfrm>
          <a:prstGeom prst="rect">
            <a:avLst/>
          </a:prstGeom>
          <a:solidFill>
            <a:srgbClr val="1E3A7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3749040"/>
            <a:ext cx="1828800" cy="822960"/>
          </a:xfrm>
          <a:prstGeom prst="rect">
            <a:avLst/>
          </a:prstGeom>
          <a:solidFill>
            <a:srgbClr val="1E3A7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$698K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274320"/>
            <a:ext cx="1828800" cy="1828800"/>
          </a:xfrm>
          <a:prstGeom prst="ellipse">
            <a:avLst/>
          </a:prstGeom>
          <a:solidFill>
            <a:srgbClr val="1E3A7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645920"/>
            <a:ext cx="1371600" cy="13716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Power BI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374904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of 10,400 customer transactions across retail categories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simulate realistic shopping behavior across demographics &amp; seasons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254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data generation → cleaning → SQL analysis →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5753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GitHub portfolio demonstration of full-stack analytics skills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0F1E4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80060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207008"/>
            <a:ext cx="3749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325880"/>
            <a:ext cx="12801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13441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659706"/>
            <a:ext cx="12801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777740" y="2649613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658757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business intelligence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863340"/>
            <a:ext cx="12801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824649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848255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011680" cy="173736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01168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05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$698,928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822960"/>
            <a:ext cx="2011680" cy="1737360"/>
          </a:xfrm>
          <a:prstGeom prst="rect">
            <a:avLst/>
          </a:prstGeom>
          <a:solidFill>
            <a:srgbClr val="CCFBF1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822960"/>
            <a:ext cx="20116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005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2011680" cy="173736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22960"/>
            <a:ext cx="201168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005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822960"/>
            <a:ext cx="2011680" cy="173736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822960"/>
            <a:ext cx="201168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005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/ 5.0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" y="2834640"/>
            <a:ext cx="2804160" cy="1737360"/>
          </a:xfrm>
          <a:prstGeom prst="rect">
            <a:avLst/>
          </a:prstGeom>
          <a:solidFill>
            <a:srgbClr val="DCFCE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834640"/>
            <a:ext cx="280416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3017520"/>
            <a:ext cx="280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82880" y="3931920"/>
            <a:ext cx="280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69920" y="2834640"/>
            <a:ext cx="2804160" cy="1737360"/>
          </a:xfrm>
          <a:prstGeom prst="rect">
            <a:avLst/>
          </a:prstGeom>
          <a:solidFill>
            <a:srgbClr val="FEE2E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69920" y="2834640"/>
            <a:ext cx="280416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169920" y="3017520"/>
            <a:ext cx="280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169920" y="3931920"/>
            <a:ext cx="280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56960" y="2834640"/>
            <a:ext cx="2804160" cy="173736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56960" y="2834640"/>
            <a:ext cx="280416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4" name="Text 32"/>
          <p:cNvSpPr/>
          <p:nvPr/>
        </p:nvSpPr>
        <p:spPr>
          <a:xfrm>
            <a:off x="6156960" y="3017520"/>
            <a:ext cx="280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56960" y="3931920"/>
            <a:ext cx="280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777240"/>
            <a:ext cx="3108960" cy="1143000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777240"/>
            <a:ext cx="64008" cy="1143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8503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Leads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188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 of total transactions and $311K in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2148840"/>
            <a:ext cx="3108960" cy="1143000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2148840"/>
            <a:ext cx="64008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2219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Premium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25603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purchase at $68.08 per transaction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3520440"/>
            <a:ext cx="3108960" cy="1143000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06440" y="3520440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5935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Distribution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39319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Non-Apparel categories form a balanced 55.3%</a:t>
            </a:r>
            <a:endParaRPr lang="en-US" sz="11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5760720" y="3063240"/>
          <a:ext cx="32004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Demographics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777240"/>
          <a:ext cx="4297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86200"/>
            <a:ext cx="2743200" cy="1005840"/>
          </a:xfrm>
          <a:prstGeom prst="rect">
            <a:avLst/>
          </a:prstGeom>
          <a:solidFill>
            <a:srgbClr val="0F1E4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5,213 Female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74320" y="4315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50.1% of customers · $351.6K revenue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46120" y="3886200"/>
            <a:ext cx="2743200" cy="1005840"/>
          </a:xfrm>
          <a:prstGeom prst="rect">
            <a:avLst/>
          </a:prstGeom>
          <a:solidFill>
            <a:srgbClr val="0F1E4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4612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5,187 Male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46120" y="4315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 of customers · $347.4K revenue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3886200"/>
            <a:ext cx="2743200" cy="1005840"/>
          </a:xfrm>
          <a:prstGeom prst="rect">
            <a:avLst/>
          </a:prstGeom>
          <a:solidFill>
            <a:srgbClr val="0F1E4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1792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 Subscribed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17920" y="4315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5,171 active subscribers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 &amp; Discount Behavior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4572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937760" y="73152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429000"/>
            <a:ext cx="4206240" cy="658368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42900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4"/>
          <p:cNvSpPr/>
          <p:nvPr/>
        </p:nvSpPr>
        <p:spPr>
          <a:xfrm>
            <a:off x="411480" y="34290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Peak: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generates the highest revenue at $180,649 , a 6.6% lead over Spring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09160" y="3429000"/>
            <a:ext cx="4206240" cy="658368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9160" y="342900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7"/>
          <p:cNvSpPr/>
          <p:nvPr/>
        </p:nvSpPr>
        <p:spPr>
          <a:xfrm>
            <a:off x="4846320" y="34290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Demand: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variance across seasons is only ~$11K, indicating year-round stability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4206240"/>
            <a:ext cx="4206240" cy="658368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420624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0"/>
          <p:cNvSpPr/>
          <p:nvPr/>
        </p:nvSpPr>
        <p:spPr>
          <a:xfrm>
            <a:off x="411480" y="42062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Reach: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45.2% discount rate suggests promotions are widely used without over-reliance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4206240"/>
            <a:ext cx="4206240" cy="658368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420624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3"/>
          <p:cNvSpPr/>
          <p:nvPr/>
        </p:nvSpPr>
        <p:spPr>
          <a:xfrm>
            <a:off x="4846320" y="42062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Discounters: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discount users still spend above the $67.20 average. Discounts attract quality buyers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&amp; Shipping Preferences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4389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73152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0F1E4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63931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Dominate: </a:t>
            </a: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+ Venmo = 40% of transactions. No single payment method exceeds 21%, ensuring flexibility.   </a:t>
            </a: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Shipping: </a:t>
            </a: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shipping types share ~16-17% each, suggesting customers have no strong preference  offering all options is key.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60520" cy="4114800"/>
          </a:xfrm>
          <a:prstGeom prst="rect">
            <a:avLst/>
          </a:prstGeom>
          <a:solidFill>
            <a:srgbClr val="F0F9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4160520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95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207008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dominates both transactions and revenue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700784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Loyal customers indicate strong retention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249424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19456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revenue split is near-equal (~$4K gap)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743200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688336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variation is minimal — stable demand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3236976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18211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wallets (PayPal/Venmo) dominate payments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3730752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675888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3.0 rating suggests quality improvement opportunity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4224528"/>
            <a:ext cx="164592" cy="16459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4169664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attract genuine high-value customers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0F1E4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749808"/>
            <a:ext cx="4206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795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82312" y="1261872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207008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new-customer acquisition campaigns for young adults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82312" y="1755648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700784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Luxury Goods for premium upsell opportunities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82312" y="2249424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19456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Returning segment to drive Loyal conversion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82312" y="2743200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688336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checkout for PayPal and Venmo users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82312" y="3236976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3182112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 review ratings for quality wins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82312" y="3730752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675888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Texas, Louisiana &amp; Montana for regional campaigns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82312" y="4224528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4169664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Express shipping incentives on high-value orders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1E3A7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5720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10,400 Transactions Analyzed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SQL | Power BI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$698,928 Total Revenue | 85% Loyal 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59936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GitHub with full documentation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Dataset is synthetically generated for portfolio purposes.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495</Words>
  <Application>Microsoft Office PowerPoint</Application>
  <PresentationFormat>On-screen Show (16:9)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Mehrukh Banday</cp:lastModifiedBy>
  <cp:revision>4</cp:revision>
  <dcterms:created xsi:type="dcterms:W3CDTF">2026-05-02T06:56:43Z</dcterms:created>
  <dcterms:modified xsi:type="dcterms:W3CDTF">2026-05-02T18:16:25Z</dcterms:modified>
</cp:coreProperties>
</file>